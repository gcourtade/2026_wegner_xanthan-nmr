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5" r:id="rId5"/>
    <p:sldId id="257" r:id="rId6"/>
    <p:sldId id="269" r:id="rId7"/>
    <p:sldId id="270" r:id="rId8"/>
    <p:sldId id="266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55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D660-EF38-81CB-8772-F638C3D10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7E556-F565-4E33-A31E-E32807D28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651C8-2C82-4438-C4F1-65564599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5F235-CEA6-372E-D936-5785D9A4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8B5C-2E0A-C8DC-CD13-8A7B000F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220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6275-4660-DDBC-3AFC-A9A74282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5BAB-3320-AE99-0270-D3CAD88E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C6FCB-E889-8053-08A3-18BC4831C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A1CC5-E443-F6ED-9ED0-C522603E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5CED4-D032-8944-7829-F8954853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871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6DB5-5171-1E3A-CF43-AB2508A6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91641-5595-E684-16DA-F05BC460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5ABA-26FD-EBFC-1C69-D115BBDF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7A574-5936-300B-5F64-98B900A1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C0CB8-8ED5-5781-8C2B-0402189F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843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0A09-305A-94FC-EEE6-80471D8F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042F-78DB-BF2A-9F5E-8B889C598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DCEE0-8463-A26A-0C5A-C893BBE63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E695-0CB1-E2F2-94C3-5E657FA8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03E56-7561-CB5A-BD37-5FA7E2DA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9ED91-E0C2-2884-AC77-E93DFBDB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9486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9970-6348-9AD9-15CF-4220BFA7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7747A-B038-440D-CF10-00E47EE8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234BB-59CF-18E9-4044-C0F7CDB10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C47B5-CD77-8471-D76A-1781FFF27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26AB7-FAB1-AE6D-A7AE-9138FDDF5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7CE49-5C53-D915-5672-FEBC0471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34B14-147E-F2F5-05CA-DEF96A01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A9682-F058-27AC-3D03-E3DFB648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213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473E-B5B2-2A74-F429-43365C3D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C7193-D582-C96D-84D8-C2DA5ED6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52A1D-CDA1-4441-8FC1-9784324D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72C89-6BE8-FEE1-CDC2-A5154137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3970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47031-5758-A8A9-B682-0E5D5AB7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6A38D-5648-D0FE-589B-D03050B9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B9182-0212-89F6-1724-AF903472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4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706-524C-1B2B-9E41-8B5C8040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6529B-066F-1565-D1C6-50BAA79C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DBCB8-C6D1-7F4C-AE43-2D2255311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DE7CE-3A1B-021F-DE31-2BD3FB21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66D13-5977-5AB1-6661-93ECDDBD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3B7C-2C8C-308D-7369-0D45B505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0442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DDEF-2B6E-7313-0506-8B47DFF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37337-E994-CCF8-A70C-AE2544C44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27E3A-D5D6-B195-A5CB-62E0AC54E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F06BD-6D1B-B8AF-25E5-DA2E7DBE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6EF74-F39A-0803-6625-346B2E14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054EA-F9DF-8B47-D6EA-E1E003EC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7090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9559-2B34-DFBB-1C11-A9E97046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953CC-8E5B-596E-1C9A-748E9E947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509CE-E016-2923-6770-11AE17AC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B413A-7105-4BFB-D29E-5ACD2C3A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99FEB-987B-4549-E622-05F1C377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477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71CE9-301E-A056-D033-48EEFA4F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9FD40-E640-3878-5BCA-B96ADAB98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7EA6-840A-C1FE-C920-6622C050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644D8-5B2E-399D-B9DC-1C458EDA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780E4-C069-CAC3-A362-C2F3B83C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544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67A25-7B48-B012-BA1A-87C71E71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4C7F6-3EF7-4C03-07BE-9D8312994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12DF1-6356-5501-F70D-3F07D2275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43A10-898C-477C-B990-035F6955F71E}" type="datetimeFigureOut">
              <a:rPr lang="nb-NO" smtClean="0"/>
              <a:t>25.06.2026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423FA-8FEE-059E-EEFC-2F0334A4E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851D4-D7C2-935A-06D8-9713CDD96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EA00C-8E10-47EE-8E36-2851C807D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7497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B41D624-EE01-BE1A-80AE-4D0113B4A9BD}"/>
              </a:ext>
            </a:extLst>
          </p:cNvPr>
          <p:cNvSpPr txBox="1">
            <a:spLocks/>
          </p:cNvSpPr>
          <p:nvPr/>
        </p:nvSpPr>
        <p:spPr>
          <a:xfrm>
            <a:off x="1427383" y="1938708"/>
            <a:ext cx="9902468" cy="402970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b-NO" sz="1400" b="1" dirty="0" err="1"/>
              <a:t>Determination</a:t>
            </a:r>
            <a:r>
              <a:rPr lang="nb-NO" sz="1400" b="1" dirty="0"/>
              <a:t> of </a:t>
            </a:r>
            <a:r>
              <a:rPr lang="nb-NO" sz="1400" b="1" dirty="0" err="1"/>
              <a:t>molecular</a:t>
            </a:r>
            <a:r>
              <a:rPr lang="nb-NO" sz="1400" b="1" dirty="0"/>
              <a:t> </a:t>
            </a:r>
            <a:r>
              <a:rPr lang="nb-NO" sz="1400" b="1" dirty="0" err="1"/>
              <a:t>weight</a:t>
            </a:r>
            <a:r>
              <a:rPr lang="nb-NO" sz="1400" b="1" dirty="0"/>
              <a:t> </a:t>
            </a:r>
            <a:r>
              <a:rPr lang="nb-NO" sz="1400" b="1" dirty="0" err="1"/>
              <a:t>distribution</a:t>
            </a:r>
            <a:r>
              <a:rPr lang="nb-NO" sz="1400" b="1" dirty="0"/>
              <a:t> </a:t>
            </a:r>
            <a:r>
              <a:rPr lang="nb-NO" sz="1400" b="1" dirty="0" err="1"/>
              <a:t>with</a:t>
            </a:r>
            <a:r>
              <a:rPr lang="nb-NO" sz="1400" b="1" dirty="0"/>
              <a:t> SEC MALS</a:t>
            </a:r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Size-exclusion chromatography (SEC) with online multi-angle static laser light scattering (MALS) were performed at ambient temperature on an </a:t>
            </a: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Agilent 1260 Infinity II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system consisting of a solvent reservoir, isocratic pump, automatic sample injector, pre-column (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OHpak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LB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-G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6B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guard) and a main column (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OHpak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LB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806M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). The column outlet was connected to a Dawn HELEOS-II multi-angle laser light scattering photometer (Wyatt, U.S.A.) (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λ</a:t>
            </a:r>
            <a:r>
              <a:rPr lang="en-US" sz="1400" baseline="-25000" dirty="0" err="1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=663.8 nm) followed by RI-501 refractive index detector (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Shodex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). ​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0" indent="0" algn="just" fontAlgn="base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The eluent was 0.15 M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NaNO</a:t>
            </a:r>
            <a:r>
              <a:rPr lang="en-US" sz="1400" baseline="-25000" dirty="0" err="1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 with 0.01 M EDTA (pH = 6.0) and the flow rate was 0.5 mL/min. The samples were dissolved in mobile phase (c = 0.5 mg/mL) over night and filtered (pore size 0.45 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μm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) before injection. The injection volume was 50 and 100 µL. </a:t>
            </a:r>
          </a:p>
          <a:p>
            <a:pPr marL="0" indent="0" algn="just" fontAlgn="base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Data were collected and processed using Astra (version 7.3.21) software (Wyatt, USA).​</a:t>
            </a:r>
          </a:p>
          <a:p>
            <a:pPr marL="0" indent="0" algn="just" fontAlgn="base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dn/dc = 0.150 mL/g and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sz="1400" baseline="-25000" dirty="0" err="1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=2.0 x 10</a:t>
            </a:r>
            <a:r>
              <a:rPr lang="en-US" sz="1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-4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 ml*mol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sz="1400" baseline="30000" dirty="0" err="1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sz="1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for Xanthan</a:t>
            </a:r>
          </a:p>
          <a:p>
            <a:pPr marL="0" indent="0">
              <a:buNone/>
            </a:pPr>
            <a:endParaRPr lang="nb-NO" sz="1400" b="1" dirty="0"/>
          </a:p>
          <a:p>
            <a:pPr marL="0" indent="0">
              <a:buNone/>
            </a:pPr>
            <a:endParaRPr lang="nb-NO" sz="1400" b="1" dirty="0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08F854F1-1A0B-DED1-824D-5465552261B0}"/>
              </a:ext>
            </a:extLst>
          </p:cNvPr>
          <p:cNvSpPr txBox="1"/>
          <p:nvPr/>
        </p:nvSpPr>
        <p:spPr>
          <a:xfrm>
            <a:off x="1427383" y="889591"/>
            <a:ext cx="2562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349438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Sylinder 2">
            <a:extLst>
              <a:ext uri="{FF2B5EF4-FFF2-40B4-BE49-F238E27FC236}">
                <a16:creationId xmlns:a16="http://schemas.microsoft.com/office/drawing/2014/main" id="{B4ABAD02-B4DF-7C35-BA34-C70F6E07DCE2}"/>
              </a:ext>
            </a:extLst>
          </p:cNvPr>
          <p:cNvSpPr txBox="1"/>
          <p:nvPr/>
        </p:nvSpPr>
        <p:spPr>
          <a:xfrm>
            <a:off x="3999582" y="147052"/>
            <a:ext cx="2562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 err="1"/>
              <a:t>Results</a:t>
            </a:r>
            <a:endParaRPr lang="nb-NO" sz="3600" dirty="0"/>
          </a:p>
        </p:txBody>
      </p:sp>
      <p:sp>
        <p:nvSpPr>
          <p:cNvPr id="2" name="TekstSylinder 2">
            <a:extLst>
              <a:ext uri="{FF2B5EF4-FFF2-40B4-BE49-F238E27FC236}">
                <a16:creationId xmlns:a16="http://schemas.microsoft.com/office/drawing/2014/main" id="{DFD15F1E-EA11-1A25-E080-BEDF02BE4EE8}"/>
              </a:ext>
            </a:extLst>
          </p:cNvPr>
          <p:cNvSpPr txBox="1"/>
          <p:nvPr/>
        </p:nvSpPr>
        <p:spPr>
          <a:xfrm>
            <a:off x="2190000" y="793383"/>
            <a:ext cx="781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1000" b="1" dirty="0" err="1"/>
              <a:t>Table</a:t>
            </a:r>
            <a:r>
              <a:rPr lang="nb-NO" sz="1000" b="1" dirty="0"/>
              <a:t> 2 </a:t>
            </a:r>
            <a:r>
              <a:rPr lang="nb-NO" sz="1000" dirty="0" err="1"/>
              <a:t>Molecular</a:t>
            </a:r>
            <a:r>
              <a:rPr lang="nb-NO" sz="1000" dirty="0"/>
              <a:t> </a:t>
            </a:r>
            <a:r>
              <a:rPr lang="nb-NO" sz="1000" dirty="0" err="1"/>
              <a:t>weights</a:t>
            </a:r>
            <a:r>
              <a:rPr lang="nb-NO" sz="1000" dirty="0"/>
              <a:t> and  </a:t>
            </a:r>
            <a:r>
              <a:rPr lang="nb-NO" sz="1000" dirty="0" err="1"/>
              <a:t>polydispersity</a:t>
            </a:r>
            <a:r>
              <a:rPr lang="nb-NO" sz="1000" dirty="0"/>
              <a:t> </a:t>
            </a:r>
            <a:r>
              <a:rPr lang="nb-NO" sz="1000" dirty="0" err="1"/>
              <a:t>determined</a:t>
            </a:r>
            <a:r>
              <a:rPr lang="nb-NO" sz="1000" dirty="0"/>
              <a:t> by SEC-MALS. All </a:t>
            </a:r>
            <a:r>
              <a:rPr lang="nb-NO" sz="1000" dirty="0" err="1"/>
              <a:t>inj</a:t>
            </a:r>
            <a:r>
              <a:rPr lang="nb-NO" sz="1000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3AB531-A3A5-5AC7-E8D4-4AF4DA517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429479"/>
              </p:ext>
            </p:extLst>
          </p:nvPr>
        </p:nvGraphicFramePr>
        <p:xfrm>
          <a:off x="1828537" y="1105140"/>
          <a:ext cx="8293101" cy="464772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003532">
                  <a:extLst>
                    <a:ext uri="{9D8B030D-6E8A-4147-A177-3AD203B41FA5}">
                      <a16:colId xmlns:a16="http://schemas.microsoft.com/office/drawing/2014/main" val="2420305000"/>
                    </a:ext>
                  </a:extLst>
                </a:gridCol>
                <a:gridCol w="1512159">
                  <a:extLst>
                    <a:ext uri="{9D8B030D-6E8A-4147-A177-3AD203B41FA5}">
                      <a16:colId xmlns:a16="http://schemas.microsoft.com/office/drawing/2014/main" val="616734855"/>
                    </a:ext>
                  </a:extLst>
                </a:gridCol>
                <a:gridCol w="608668">
                  <a:extLst>
                    <a:ext uri="{9D8B030D-6E8A-4147-A177-3AD203B41FA5}">
                      <a16:colId xmlns:a16="http://schemas.microsoft.com/office/drawing/2014/main" val="1386764578"/>
                    </a:ext>
                  </a:extLst>
                </a:gridCol>
                <a:gridCol w="608668">
                  <a:extLst>
                    <a:ext uri="{9D8B030D-6E8A-4147-A177-3AD203B41FA5}">
                      <a16:colId xmlns:a16="http://schemas.microsoft.com/office/drawing/2014/main" val="1948571684"/>
                    </a:ext>
                  </a:extLst>
                </a:gridCol>
                <a:gridCol w="735474">
                  <a:extLst>
                    <a:ext uri="{9D8B030D-6E8A-4147-A177-3AD203B41FA5}">
                      <a16:colId xmlns:a16="http://schemas.microsoft.com/office/drawing/2014/main" val="579454983"/>
                    </a:ext>
                  </a:extLst>
                </a:gridCol>
                <a:gridCol w="523074">
                  <a:extLst>
                    <a:ext uri="{9D8B030D-6E8A-4147-A177-3AD203B41FA5}">
                      <a16:colId xmlns:a16="http://schemas.microsoft.com/office/drawing/2014/main" val="2989592306"/>
                    </a:ext>
                  </a:extLst>
                </a:gridCol>
                <a:gridCol w="1169784">
                  <a:extLst>
                    <a:ext uri="{9D8B030D-6E8A-4147-A177-3AD203B41FA5}">
                      <a16:colId xmlns:a16="http://schemas.microsoft.com/office/drawing/2014/main" val="1145773490"/>
                    </a:ext>
                  </a:extLst>
                </a:gridCol>
                <a:gridCol w="1131742">
                  <a:extLst>
                    <a:ext uri="{9D8B030D-6E8A-4147-A177-3AD203B41FA5}">
                      <a16:colId xmlns:a16="http://schemas.microsoft.com/office/drawing/2014/main" val="402100982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File name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sample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Mn (kDa)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Mw (kDa)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PI (Mw/Mn)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rw (nm)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Inj. mass (µg)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Mass recovery (%)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2294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DkA003[260323]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433.1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683.1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32.5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39.3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5759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DkA011[260323]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411.2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670.6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32.1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39.6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7797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DkA018[260323]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441.2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32.5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1817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DIA005[260323]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463.1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613.2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69.6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675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DIA013[260323]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467.8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619.5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69.7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66568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DIA020[260323]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ΔIA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454.3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606.1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38.9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71.4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310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DkB004[260323]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564.3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891.9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28.1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44.3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3234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DkB012[260323]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517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830.1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28.6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46.7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129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DkB019[260323]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ΔkB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523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837.5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28.2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45.8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3298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DIB006[260323]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246.2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514.7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30.4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76.6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385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DIB014[260323]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248.3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524.6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30.3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76.4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10174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DIB021[260323]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ΔIB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249.4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528.6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30.6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77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5252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WT007[260323]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860.2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1100.1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59.9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68.8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13621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WT015[260323]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858.2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1095.5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60.1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68.9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7247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WT022[260323]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853.3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1095.3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60.1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68.9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3416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WTB008[260323]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1018.8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1338.4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68.5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7573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WTB016[260323]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1043.8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1351.5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69.2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57.6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39330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WTB023[260323]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WTB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1027.6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1338.2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69.2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25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58.1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68616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01359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P137002[260323]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120.3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133.1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100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91.7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23732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P137010[260323]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120.7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133.7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1.1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>
                          <a:effectLst/>
                        </a:rPr>
                        <a:t>50</a:t>
                      </a:r>
                      <a:endParaRPr lang="nb-NO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b-NO" sz="1100" u="none" strike="noStrike" dirty="0">
                          <a:effectLst/>
                        </a:rPr>
                        <a:t>91.7</a:t>
                      </a:r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T="1800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275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60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5EEFD-34BB-9BF1-AE67-59D67A116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5" y="707504"/>
            <a:ext cx="8322335" cy="5207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C9FCDB-01A8-5440-CEB2-3B46DD3CB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4" y="254611"/>
            <a:ext cx="12028516" cy="452893"/>
          </a:xfrm>
          <a:prstGeom prst="rect">
            <a:avLst/>
          </a:prstGeom>
        </p:spPr>
      </p:pic>
      <p:sp>
        <p:nvSpPr>
          <p:cNvPr id="6" name="TekstSylinder 8">
            <a:extLst>
              <a:ext uri="{FF2B5EF4-FFF2-40B4-BE49-F238E27FC236}">
                <a16:creationId xmlns:a16="http://schemas.microsoft.com/office/drawing/2014/main" id="{018846EA-1161-4F39-4ECC-98494A4C030C}"/>
              </a:ext>
            </a:extLst>
          </p:cNvPr>
          <p:cNvSpPr txBox="1"/>
          <p:nvPr/>
        </p:nvSpPr>
        <p:spPr>
          <a:xfrm>
            <a:off x="1305823" y="5949488"/>
            <a:ext cx="854266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1200" b="1" dirty="0" err="1"/>
              <a:t>Figure</a:t>
            </a:r>
            <a:r>
              <a:rPr lang="nb-NO" sz="1200" b="1" dirty="0"/>
              <a:t> 1: </a:t>
            </a:r>
            <a:r>
              <a:rPr lang="nb-NO" sz="1200" dirty="0" err="1"/>
              <a:t>Refractive</a:t>
            </a:r>
            <a:r>
              <a:rPr lang="nb-NO" sz="1200" dirty="0"/>
              <a:t> </a:t>
            </a:r>
            <a:r>
              <a:rPr lang="nb-NO" sz="1200" dirty="0" err="1"/>
              <a:t>index</a:t>
            </a:r>
            <a:r>
              <a:rPr lang="nb-NO" sz="1200" dirty="0"/>
              <a:t> </a:t>
            </a:r>
            <a:r>
              <a:rPr lang="nb-NO" sz="1200" dirty="0" err="1"/>
              <a:t>chromatograms</a:t>
            </a:r>
            <a:r>
              <a:rPr lang="nb-NO" sz="1200" dirty="0"/>
              <a:t> </a:t>
            </a:r>
            <a:r>
              <a:rPr lang="nb-NO" sz="1200" dirty="0" err="1"/>
              <a:t>with</a:t>
            </a:r>
            <a:r>
              <a:rPr lang="nb-NO" sz="1200" dirty="0"/>
              <a:t> </a:t>
            </a:r>
            <a:r>
              <a:rPr lang="nb-NO" sz="1200" dirty="0" err="1"/>
              <a:t>overlaid</a:t>
            </a:r>
            <a:r>
              <a:rPr lang="nb-NO" sz="1200" dirty="0"/>
              <a:t> Vol-Mw </a:t>
            </a:r>
            <a:r>
              <a:rPr lang="nb-NO" sz="1200" dirty="0" err="1"/>
              <a:t>curve</a:t>
            </a:r>
            <a:r>
              <a:rPr lang="nb-NO" sz="1200" dirty="0"/>
              <a:t> for </a:t>
            </a:r>
            <a:r>
              <a:rPr lang="nb-NO" sz="1200" dirty="0" err="1"/>
              <a:t>Xanthan</a:t>
            </a:r>
            <a:r>
              <a:rPr lang="nb-NO" sz="1200" dirty="0"/>
              <a:t> samples. </a:t>
            </a:r>
            <a:r>
              <a:rPr lang="nb-NO" sz="1200" dirty="0" err="1"/>
              <a:t>25µg</a:t>
            </a:r>
            <a:r>
              <a:rPr lang="nb-NO" sz="1200" dirty="0"/>
              <a:t> of </a:t>
            </a:r>
            <a:r>
              <a:rPr lang="nb-NO" sz="1200" dirty="0" err="1"/>
              <a:t>each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108999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72AE-3DAE-C9E5-B9AF-8C3A0304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FD45C-3CB5-3B07-5EF3-95B396C1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4" y="254611"/>
            <a:ext cx="12028516" cy="452893"/>
          </a:xfrm>
          <a:prstGeom prst="rect">
            <a:avLst/>
          </a:prstGeom>
        </p:spPr>
      </p:pic>
      <p:sp>
        <p:nvSpPr>
          <p:cNvPr id="6" name="TekstSylinder 8">
            <a:extLst>
              <a:ext uri="{FF2B5EF4-FFF2-40B4-BE49-F238E27FC236}">
                <a16:creationId xmlns:a16="http://schemas.microsoft.com/office/drawing/2014/main" id="{20D5941B-37BB-CA70-334B-67EFA37B85A6}"/>
              </a:ext>
            </a:extLst>
          </p:cNvPr>
          <p:cNvSpPr txBox="1"/>
          <p:nvPr/>
        </p:nvSpPr>
        <p:spPr>
          <a:xfrm>
            <a:off x="1305823" y="5949488"/>
            <a:ext cx="854266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1200" b="1" dirty="0" err="1"/>
              <a:t>Figure</a:t>
            </a:r>
            <a:r>
              <a:rPr lang="nb-NO" sz="1200" b="1" dirty="0"/>
              <a:t> 1: </a:t>
            </a:r>
            <a:r>
              <a:rPr lang="nb-NO" sz="1200" dirty="0" err="1"/>
              <a:t>Cummulative</a:t>
            </a:r>
            <a:r>
              <a:rPr lang="nb-NO" sz="1200" dirty="0"/>
              <a:t> </a:t>
            </a:r>
            <a:r>
              <a:rPr lang="nb-NO" sz="1200" dirty="0" err="1"/>
              <a:t>weight</a:t>
            </a:r>
            <a:r>
              <a:rPr lang="nb-NO" sz="1200" dirty="0"/>
              <a:t> </a:t>
            </a:r>
            <a:r>
              <a:rPr lang="nb-NO" sz="1200" dirty="0" err="1"/>
              <a:t>distributions</a:t>
            </a:r>
            <a:r>
              <a:rPr lang="nb-NO" sz="1200" dirty="0"/>
              <a:t> for </a:t>
            </a:r>
            <a:r>
              <a:rPr lang="nb-NO" sz="1200" dirty="0" err="1"/>
              <a:t>Xanthan</a:t>
            </a:r>
            <a:r>
              <a:rPr lang="nb-NO" sz="1200" dirty="0"/>
              <a:t> samples. </a:t>
            </a:r>
            <a:r>
              <a:rPr lang="nb-NO" sz="1200" dirty="0" err="1"/>
              <a:t>25µg</a:t>
            </a:r>
            <a:r>
              <a:rPr lang="nb-NO" sz="1200" dirty="0"/>
              <a:t> of </a:t>
            </a:r>
            <a:r>
              <a:rPr lang="nb-NO" sz="1200" dirty="0" err="1"/>
              <a:t>each</a:t>
            </a:r>
            <a:endParaRPr lang="nb-NO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F8EA1-98A6-6983-B5E4-F93D888A3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12" y="823346"/>
            <a:ext cx="7895119" cy="49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8">
            <a:extLst>
              <a:ext uri="{FF2B5EF4-FFF2-40B4-BE49-F238E27FC236}">
                <a16:creationId xmlns:a16="http://schemas.microsoft.com/office/drawing/2014/main" id="{C62D8085-BC7F-67C7-B6B9-062750F08706}"/>
              </a:ext>
            </a:extLst>
          </p:cNvPr>
          <p:cNvSpPr txBox="1"/>
          <p:nvPr/>
        </p:nvSpPr>
        <p:spPr>
          <a:xfrm>
            <a:off x="1305823" y="5949488"/>
            <a:ext cx="854266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1200" b="1" dirty="0" err="1"/>
              <a:t>Figure</a:t>
            </a:r>
            <a:r>
              <a:rPr lang="nb-NO" sz="1200" b="1" dirty="0"/>
              <a:t> 1: </a:t>
            </a:r>
            <a:r>
              <a:rPr lang="nb-NO" sz="1200" dirty="0" err="1"/>
              <a:t>Refractive</a:t>
            </a:r>
            <a:r>
              <a:rPr lang="nb-NO" sz="1200" dirty="0"/>
              <a:t> </a:t>
            </a:r>
            <a:r>
              <a:rPr lang="nb-NO" sz="1200" dirty="0" err="1"/>
              <a:t>index</a:t>
            </a:r>
            <a:r>
              <a:rPr lang="nb-NO" sz="1200" dirty="0"/>
              <a:t> </a:t>
            </a:r>
            <a:r>
              <a:rPr lang="nb-NO" sz="1200" dirty="0" err="1"/>
              <a:t>chromatograms</a:t>
            </a:r>
            <a:r>
              <a:rPr lang="nb-NO" sz="1200" dirty="0"/>
              <a:t> </a:t>
            </a:r>
            <a:r>
              <a:rPr lang="nb-NO" sz="1200" dirty="0" err="1"/>
              <a:t>with</a:t>
            </a:r>
            <a:r>
              <a:rPr lang="nb-NO" sz="1200" dirty="0"/>
              <a:t> </a:t>
            </a:r>
            <a:r>
              <a:rPr lang="nb-NO" sz="1200" dirty="0" err="1"/>
              <a:t>overlaid</a:t>
            </a:r>
            <a:r>
              <a:rPr lang="nb-NO" sz="1200" dirty="0"/>
              <a:t> Vol-Mw </a:t>
            </a:r>
            <a:r>
              <a:rPr lang="nb-NO" sz="1200" dirty="0" err="1"/>
              <a:t>curve</a:t>
            </a:r>
            <a:r>
              <a:rPr lang="nb-NO" sz="1200" dirty="0"/>
              <a:t> for </a:t>
            </a:r>
            <a:r>
              <a:rPr lang="nb-NO" sz="1200" dirty="0" err="1"/>
              <a:t>Xanthan</a:t>
            </a:r>
            <a:r>
              <a:rPr lang="nb-NO" sz="1200" dirty="0"/>
              <a:t> 60 min </a:t>
            </a:r>
            <a:r>
              <a:rPr lang="nb-NO" sz="1200" dirty="0" err="1"/>
              <a:t>sonicated</a:t>
            </a:r>
            <a:r>
              <a:rPr lang="nb-NO" sz="1200" dirty="0"/>
              <a:t> </a:t>
            </a:r>
            <a:r>
              <a:rPr lang="nb-NO" sz="1200" dirty="0" err="1"/>
              <a:t>anddissolved</a:t>
            </a:r>
            <a:r>
              <a:rPr lang="nb-NO" sz="1200" dirty="0"/>
              <a:t> in ion </a:t>
            </a:r>
            <a:r>
              <a:rPr lang="nb-NO" sz="1200" dirty="0" err="1"/>
              <a:t>free</a:t>
            </a:r>
            <a:r>
              <a:rPr lang="nb-NO" sz="1200" dirty="0"/>
              <a:t> water (</a:t>
            </a:r>
            <a:r>
              <a:rPr lang="nb-NO" sz="1200" dirty="0" err="1"/>
              <a:t>10mg</a:t>
            </a:r>
            <a:r>
              <a:rPr lang="nb-NO" sz="1200" dirty="0"/>
              <a:t>/ml over </a:t>
            </a:r>
            <a:r>
              <a:rPr lang="nb-NO" sz="1200" dirty="0" err="1"/>
              <a:t>night</a:t>
            </a:r>
            <a:r>
              <a:rPr lang="nb-NO" sz="1200" dirty="0"/>
              <a:t>, </a:t>
            </a:r>
            <a:r>
              <a:rPr lang="nb-NO" sz="1200" dirty="0" err="1"/>
              <a:t>then</a:t>
            </a:r>
            <a:r>
              <a:rPr lang="nb-NO" sz="1200" dirty="0"/>
              <a:t> </a:t>
            </a:r>
            <a:r>
              <a:rPr lang="nb-NO" sz="1200" dirty="0" err="1"/>
              <a:t>diluted</a:t>
            </a:r>
            <a:r>
              <a:rPr lang="nb-NO" sz="1200" dirty="0"/>
              <a:t> </a:t>
            </a:r>
            <a:r>
              <a:rPr lang="nb-NO" sz="1200" dirty="0" err="1"/>
              <a:t>with</a:t>
            </a:r>
            <a:r>
              <a:rPr lang="nb-NO" sz="1200" dirty="0"/>
              <a:t> </a:t>
            </a:r>
            <a:r>
              <a:rPr lang="nb-NO" sz="1200" dirty="0" err="1"/>
              <a:t>2x</a:t>
            </a:r>
            <a:r>
              <a:rPr lang="nb-NO" sz="1200" dirty="0"/>
              <a:t> </a:t>
            </a:r>
            <a:r>
              <a:rPr lang="nb-NO" sz="1200" dirty="0" err="1"/>
              <a:t>mob</a:t>
            </a:r>
            <a:r>
              <a:rPr lang="nb-NO" sz="1200" dirty="0"/>
              <a:t> </a:t>
            </a:r>
            <a:r>
              <a:rPr lang="nb-NO" sz="1200" dirty="0" err="1"/>
              <a:t>phase</a:t>
            </a:r>
            <a:r>
              <a:rPr lang="nb-NO" sz="1200" dirty="0"/>
              <a:t> and </a:t>
            </a:r>
            <a:r>
              <a:rPr lang="nb-NO" sz="1200" dirty="0" err="1"/>
              <a:t>finally</a:t>
            </a:r>
            <a:r>
              <a:rPr lang="nb-NO" sz="1200" dirty="0"/>
              <a:t> </a:t>
            </a:r>
            <a:r>
              <a:rPr lang="nb-NO" sz="1200" dirty="0" err="1"/>
              <a:t>diluted</a:t>
            </a:r>
            <a:r>
              <a:rPr lang="nb-NO" sz="1200" dirty="0"/>
              <a:t> to 0.5 mg/ml </a:t>
            </a:r>
            <a:r>
              <a:rPr lang="nb-NO" sz="1200" dirty="0" err="1"/>
              <a:t>with</a:t>
            </a:r>
            <a:r>
              <a:rPr lang="nb-NO" sz="1200" dirty="0"/>
              <a:t> </a:t>
            </a:r>
            <a:r>
              <a:rPr lang="nb-NO" sz="1200" dirty="0" err="1"/>
              <a:t>1x</a:t>
            </a:r>
            <a:r>
              <a:rPr lang="nb-NO" sz="1200" dirty="0"/>
              <a:t> mobile </a:t>
            </a:r>
            <a:r>
              <a:rPr lang="nb-NO" sz="1200" dirty="0" err="1"/>
              <a:t>phase</a:t>
            </a:r>
            <a:r>
              <a:rPr lang="nb-NO" sz="1200" dirty="0"/>
              <a:t>. </a:t>
            </a:r>
            <a:r>
              <a:rPr lang="nb-NO" sz="1200" dirty="0" err="1"/>
              <a:t>Compared</a:t>
            </a:r>
            <a:r>
              <a:rPr lang="nb-NO" sz="1200" dirty="0"/>
              <a:t> to </a:t>
            </a:r>
            <a:r>
              <a:rPr lang="nb-NO" sz="1200" dirty="0" err="1"/>
              <a:t>the</a:t>
            </a:r>
            <a:r>
              <a:rPr lang="nb-NO" sz="1200" dirty="0"/>
              <a:t> same sample </a:t>
            </a:r>
            <a:r>
              <a:rPr lang="nb-NO" sz="1200" dirty="0" err="1"/>
              <a:t>dissolved</a:t>
            </a:r>
            <a:r>
              <a:rPr lang="nb-NO" sz="1200" dirty="0"/>
              <a:t> </a:t>
            </a:r>
            <a:r>
              <a:rPr lang="nb-NO" sz="1200" dirty="0" err="1"/>
              <a:t>directly</a:t>
            </a:r>
            <a:r>
              <a:rPr lang="nb-NO" sz="1200" dirty="0"/>
              <a:t> to </a:t>
            </a:r>
            <a:r>
              <a:rPr lang="nb-NO" sz="1200" dirty="0" err="1"/>
              <a:t>0.5mg</a:t>
            </a:r>
            <a:r>
              <a:rPr lang="nb-NO" sz="1200" dirty="0"/>
              <a:t>/ml </a:t>
            </a:r>
            <a:r>
              <a:rPr lang="nb-NO" sz="1200" dirty="0" err="1"/>
              <a:t>with</a:t>
            </a:r>
            <a:r>
              <a:rPr lang="nb-NO" sz="1200" dirty="0"/>
              <a:t> </a:t>
            </a:r>
            <a:r>
              <a:rPr lang="nb-NO" sz="1200" dirty="0" err="1"/>
              <a:t>1x</a:t>
            </a:r>
            <a:r>
              <a:rPr lang="nb-NO" sz="1200" dirty="0"/>
              <a:t> mobile </a:t>
            </a:r>
            <a:r>
              <a:rPr lang="nb-NO" sz="1200" dirty="0" err="1"/>
              <a:t>phase</a:t>
            </a:r>
            <a:r>
              <a:rPr lang="nb-NO" sz="1200" dirty="0"/>
              <a:t> over </a:t>
            </a:r>
            <a:r>
              <a:rPr lang="nb-NO" sz="1200" dirty="0" err="1"/>
              <a:t>night</a:t>
            </a:r>
            <a:r>
              <a:rPr lang="nb-NO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013558-025F-9D60-E6C2-8B03989686B8}"/>
              </a:ext>
            </a:extLst>
          </p:cNvPr>
          <p:cNvSpPr txBox="1"/>
          <p:nvPr/>
        </p:nvSpPr>
        <p:spPr>
          <a:xfrm>
            <a:off x="7481454" y="232756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*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791A52-E013-3E33-3C2D-2EE2C7673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37246"/>
              </p:ext>
            </p:extLst>
          </p:nvPr>
        </p:nvGraphicFramePr>
        <p:xfrm>
          <a:off x="1724985" y="514396"/>
          <a:ext cx="7704338" cy="13468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36876">
                  <a:extLst>
                    <a:ext uri="{9D8B030D-6E8A-4147-A177-3AD203B41FA5}">
                      <a16:colId xmlns:a16="http://schemas.microsoft.com/office/drawing/2014/main" val="290257063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3486453304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107288915"/>
                    </a:ext>
                  </a:extLst>
                </a:gridCol>
                <a:gridCol w="962257">
                  <a:extLst>
                    <a:ext uri="{9D8B030D-6E8A-4147-A177-3AD203B41FA5}">
                      <a16:colId xmlns:a16="http://schemas.microsoft.com/office/drawing/2014/main" val="1320250904"/>
                    </a:ext>
                  </a:extLst>
                </a:gridCol>
                <a:gridCol w="663204">
                  <a:extLst>
                    <a:ext uri="{9D8B030D-6E8A-4147-A177-3AD203B41FA5}">
                      <a16:colId xmlns:a16="http://schemas.microsoft.com/office/drawing/2014/main" val="2049545101"/>
                    </a:ext>
                  </a:extLst>
                </a:gridCol>
                <a:gridCol w="1133144">
                  <a:extLst>
                    <a:ext uri="{9D8B030D-6E8A-4147-A177-3AD203B41FA5}">
                      <a16:colId xmlns:a16="http://schemas.microsoft.com/office/drawing/2014/main" val="1126356584"/>
                    </a:ext>
                  </a:extLst>
                </a:gridCol>
                <a:gridCol w="1449611">
                  <a:extLst>
                    <a:ext uri="{9D8B030D-6E8A-4147-A177-3AD203B41FA5}">
                      <a16:colId xmlns:a16="http://schemas.microsoft.com/office/drawing/2014/main" val="39570476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Prøve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 err="1">
                          <a:effectLst/>
                        </a:rPr>
                        <a:t>Mn</a:t>
                      </a:r>
                      <a:r>
                        <a:rPr lang="nb-NO" sz="1200" u="none" strike="noStrike" dirty="0">
                          <a:effectLst/>
                        </a:rPr>
                        <a:t> (</a:t>
                      </a:r>
                      <a:r>
                        <a:rPr lang="nb-NO" sz="1200" u="none" strike="noStrike" dirty="0" err="1">
                          <a:effectLst/>
                        </a:rPr>
                        <a:t>kDa</a:t>
                      </a:r>
                      <a:r>
                        <a:rPr lang="nb-NO" sz="1200" u="none" strike="noStrike" dirty="0">
                          <a:effectLst/>
                        </a:rPr>
                        <a:t>)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Mw (kDa)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>
                          <a:effectLst/>
                        </a:rPr>
                        <a:t>PI (Mw/</a:t>
                      </a:r>
                      <a:r>
                        <a:rPr lang="nb-NO" sz="1200" u="none" strike="noStrike" dirty="0" err="1">
                          <a:effectLst/>
                        </a:rPr>
                        <a:t>Mn</a:t>
                      </a:r>
                      <a:r>
                        <a:rPr lang="nb-NO" sz="1200" u="none" strike="noStrike" dirty="0">
                          <a:effectLst/>
                        </a:rPr>
                        <a:t>)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 err="1">
                          <a:effectLst/>
                        </a:rPr>
                        <a:t>rw</a:t>
                      </a:r>
                      <a:r>
                        <a:rPr lang="nb-NO" sz="1200" u="none" strike="noStrike" dirty="0">
                          <a:effectLst/>
                        </a:rPr>
                        <a:t> (</a:t>
                      </a:r>
                      <a:r>
                        <a:rPr lang="nb-NO" sz="1200" u="none" strike="noStrike" dirty="0" err="1">
                          <a:effectLst/>
                        </a:rPr>
                        <a:t>nm</a:t>
                      </a:r>
                      <a:r>
                        <a:rPr lang="nb-NO" sz="1200" u="none" strike="noStrike" dirty="0">
                          <a:effectLst/>
                        </a:rPr>
                        <a:t>)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 err="1">
                          <a:effectLst/>
                        </a:rPr>
                        <a:t>Inj</a:t>
                      </a:r>
                      <a:r>
                        <a:rPr lang="nb-NO" sz="1200" u="none" strike="noStrike" dirty="0">
                          <a:effectLst/>
                        </a:rPr>
                        <a:t>. </a:t>
                      </a:r>
                      <a:r>
                        <a:rPr lang="nb-NO" sz="1200" u="none" strike="noStrike" dirty="0" err="1">
                          <a:effectLst/>
                        </a:rPr>
                        <a:t>mass</a:t>
                      </a:r>
                      <a:r>
                        <a:rPr lang="nb-NO" sz="1200" u="none" strike="noStrike" dirty="0">
                          <a:effectLst/>
                        </a:rPr>
                        <a:t> (µg)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>
                          <a:effectLst/>
                        </a:rPr>
                        <a:t>Mass </a:t>
                      </a:r>
                      <a:r>
                        <a:rPr lang="nb-NO" sz="1200" u="none" strike="noStrike" dirty="0" err="1">
                          <a:effectLst/>
                        </a:rPr>
                        <a:t>rec</a:t>
                      </a:r>
                      <a:r>
                        <a:rPr lang="nb-NO" sz="1200" u="none" strike="noStrike" dirty="0">
                          <a:effectLst/>
                        </a:rPr>
                        <a:t>.(%)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0867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 err="1">
                          <a:effectLst/>
                        </a:rPr>
                        <a:t>Xanthan</a:t>
                      </a:r>
                      <a:r>
                        <a:rPr lang="nb-NO" sz="1200" u="none" strike="noStrike" dirty="0">
                          <a:effectLst/>
                        </a:rPr>
                        <a:t> løst i </a:t>
                      </a:r>
                      <a:r>
                        <a:rPr lang="nb-NO" sz="1200" u="none" strike="noStrike" dirty="0" err="1">
                          <a:effectLst/>
                        </a:rPr>
                        <a:t>MQ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1265.5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3041.2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2.4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175.7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50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43.5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01866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Xanthan løst i MQ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1323.7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3277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186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45.3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2497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Xanthan løst i MQ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1295.4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3183.1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182.2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45.2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4463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Xanthan løst i mobilfase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515.6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791.5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93.5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50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18.7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Xanthan løst i mobilfase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537.8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811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94.9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18.5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4116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Xanthan løst i mobilfase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513.1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>
                          <a:effectLst/>
                        </a:rPr>
                        <a:t>791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1.5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93.7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>
                          <a:effectLst/>
                        </a:rPr>
                        <a:t>25</a:t>
                      </a:r>
                      <a:endParaRPr lang="nb-NO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b-NO" sz="1200" u="none" strike="noStrike" dirty="0">
                          <a:effectLst/>
                        </a:rPr>
                        <a:t>18.9</a:t>
                      </a:r>
                      <a:endParaRPr lang="nb-NO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428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134FEB-309D-A75E-CDA4-B665065848C3}"/>
              </a:ext>
            </a:extLst>
          </p:cNvPr>
          <p:cNvSpPr txBox="1"/>
          <p:nvPr/>
        </p:nvSpPr>
        <p:spPr>
          <a:xfrm>
            <a:off x="3406788" y="145064"/>
            <a:ext cx="348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Alginat </a:t>
            </a:r>
            <a:r>
              <a:rPr lang="nb-NO" dirty="0" err="1"/>
              <a:t>standsard</a:t>
            </a:r>
            <a:r>
              <a:rPr lang="nb-NO" dirty="0"/>
              <a:t> </a:t>
            </a:r>
            <a:r>
              <a:rPr lang="nb-NO" dirty="0" err="1"/>
              <a:t>sonikert</a:t>
            </a:r>
            <a:r>
              <a:rPr lang="nb-NO" dirty="0"/>
              <a:t> 60 min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BC2A6E-72EF-CA5C-0FA5-F1925E62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40" y="2006611"/>
            <a:ext cx="6274795" cy="39561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A9AF03-0F69-E298-0601-27B8AB715FF6}"/>
              </a:ext>
            </a:extLst>
          </p:cNvPr>
          <p:cNvSpPr txBox="1"/>
          <p:nvPr/>
        </p:nvSpPr>
        <p:spPr>
          <a:xfrm>
            <a:off x="8652792" y="2327564"/>
            <a:ext cx="30530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/>
              <a:t>Dette var bekymringsfullt. Er det behov for en protokoll og sammenlikning av ulike måter å løse prøven på?</a:t>
            </a:r>
          </a:p>
          <a:p>
            <a:r>
              <a:rPr lang="nb-NO" sz="1400" dirty="0"/>
              <a:t>Må ta et lite forbehold om </a:t>
            </a:r>
            <a:r>
              <a:rPr lang="nb-NO" sz="1400" dirty="0" err="1"/>
              <a:t>labfeil</a:t>
            </a:r>
            <a:r>
              <a:rPr lang="nb-NO" sz="1400" dirty="0"/>
              <a:t>, vekt </a:t>
            </a:r>
            <a:r>
              <a:rPr lang="nb-NO" sz="1400" dirty="0" err="1"/>
              <a:t>etc</a:t>
            </a:r>
            <a:r>
              <a:rPr lang="nb-NO" sz="1400" dirty="0"/>
              <a:t>, men tror ikke det. Jeg merket at prøven løst direkte i mobilfase var tyngre å filtrere. Begge stod sikkert 18 timer på karusell.</a:t>
            </a:r>
          </a:p>
          <a:p>
            <a:endParaRPr lang="nb-NO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170A5-F8F9-B457-8EF0-538EDC3169C3}"/>
              </a:ext>
            </a:extLst>
          </p:cNvPr>
          <p:cNvSpPr txBox="1"/>
          <p:nvPr/>
        </p:nvSpPr>
        <p:spPr>
          <a:xfrm>
            <a:off x="4003793" y="36283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200" dirty="0" err="1"/>
              <a:t>MQ</a:t>
            </a:r>
            <a:endParaRPr lang="nb-NO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0FA71B-F619-5C4B-EFCF-BDAB905E2FA6}"/>
              </a:ext>
            </a:extLst>
          </p:cNvPr>
          <p:cNvSpPr txBox="1"/>
          <p:nvPr/>
        </p:nvSpPr>
        <p:spPr>
          <a:xfrm>
            <a:off x="4360232" y="4738691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200" dirty="0" err="1"/>
              <a:t>Mob</a:t>
            </a:r>
            <a:r>
              <a:rPr lang="nb-NO" sz="1200" dirty="0"/>
              <a:t> </a:t>
            </a:r>
            <a:r>
              <a:rPr lang="nb-NO" sz="1200" dirty="0" err="1"/>
              <a:t>phase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256747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3b905f-5f31-4f27-916d-c00a61cb01f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4732B9A3604F498071E9B57648EE42" ma:contentTypeVersion="11" ma:contentTypeDescription="Create a new document." ma:contentTypeScope="" ma:versionID="c52d17fe5f4401928a6c03db341f1f58">
  <xsd:schema xmlns:xsd="http://www.w3.org/2001/XMLSchema" xmlns:xs="http://www.w3.org/2001/XMLSchema" xmlns:p="http://schemas.microsoft.com/office/2006/metadata/properties" xmlns:ns2="7a3b905f-5f31-4f27-916d-c00a61cb01f2" targetNamespace="http://schemas.microsoft.com/office/2006/metadata/properties" ma:root="true" ma:fieldsID="53d60ecf36e0c0b6eef5bcdd71bb823a" ns2:_="">
    <xsd:import namespace="7a3b905f-5f31-4f27-916d-c00a61cb01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b905f-5f31-4f27-916d-c00a61cb01f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e7bc199-5fe5-462f-a3d8-26f806c1f4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031D04-3547-484A-A971-3609625C87E5}">
  <ds:schemaRefs>
    <ds:schemaRef ds:uri="d10ee522-22d9-4761-b8c4-c623e915a04b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0ef1a8c7-6b5a-43ec-a055-7190531bcf12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841CED-6EC7-4271-BC79-39AB1AD844B9}"/>
</file>

<file path=customXml/itemProps3.xml><?xml version="1.0" encoding="utf-8"?>
<ds:datastoreItem xmlns:ds="http://schemas.openxmlformats.org/officeDocument/2006/customXml" ds:itemID="{C0C5895F-F3F8-4265-A774-8552AABA7C5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9a10672-822f-4467-a5ba-5bb375967c05}" enabled="0" method="" siteId="{09a10672-822f-4467-a5ba-5bb375967c0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Widescreen</PresentationFormat>
  <Paragraphs>230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Synnøve Strand Jacobsen</dc:creator>
  <cp:lastModifiedBy>Olav Andreas Aarstad</cp:lastModifiedBy>
  <cp:revision>9</cp:revision>
  <dcterms:created xsi:type="dcterms:W3CDTF">2026-06-16T12:43:44Z</dcterms:created>
  <dcterms:modified xsi:type="dcterms:W3CDTF">2026-06-25T13:39:58Z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0x010100574732B9A3604F498071E9B57648EE42</vt:lpwstr>
  </property>
</Properties>
</file>